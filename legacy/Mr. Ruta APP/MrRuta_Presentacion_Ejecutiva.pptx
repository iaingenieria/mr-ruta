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5C2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73152" cy="5143500"/>
          </a:xfrm>
          <a:prstGeom prst="rect">
            <a:avLst/>
          </a:prstGeom>
          <a:solidFill>
            <a:srgbClr val="18B36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0"/>
            <a:ext cx="45720" cy="5143500"/>
          </a:xfrm>
          <a:prstGeom prst="rect">
            <a:avLst/>
          </a:prstGeom>
          <a:solidFill>
            <a:srgbClr val="0D7A4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870448" y="0"/>
            <a:ext cx="45720" cy="5143500"/>
          </a:xfrm>
          <a:prstGeom prst="rect">
            <a:avLst/>
          </a:prstGeom>
          <a:solidFill>
            <a:srgbClr val="0D7A40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54496" y="0"/>
            <a:ext cx="45720" cy="5143500"/>
          </a:xfrm>
          <a:prstGeom prst="rect">
            <a:avLst/>
          </a:prstGeom>
          <a:solidFill>
            <a:srgbClr val="0D7A4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38544" y="0"/>
            <a:ext cx="45720" cy="5143500"/>
          </a:xfrm>
          <a:prstGeom prst="rect">
            <a:avLst/>
          </a:prstGeom>
          <a:solidFill>
            <a:srgbClr val="0D7A40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22592" y="0"/>
            <a:ext cx="45720" cy="5143500"/>
          </a:xfrm>
          <a:prstGeom prst="rect">
            <a:avLst/>
          </a:prstGeom>
          <a:solidFill>
            <a:srgbClr val="0D7A40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06640" y="0"/>
            <a:ext cx="45720" cy="5143500"/>
          </a:xfrm>
          <a:prstGeom prst="rect">
            <a:avLst/>
          </a:prstGeom>
          <a:solidFill>
            <a:srgbClr val="0D7A40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790688" y="0"/>
            <a:ext cx="45720" cy="5143500"/>
          </a:xfrm>
          <a:prstGeom prst="rect">
            <a:avLst/>
          </a:prstGeom>
          <a:solidFill>
            <a:srgbClr val="0D7A40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174736" y="0"/>
            <a:ext cx="45720" cy="5143500"/>
          </a:xfrm>
          <a:prstGeom prst="rect">
            <a:avLst/>
          </a:prstGeom>
          <a:solidFill>
            <a:srgbClr val="0D7A40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50292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12905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51206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EJECUTIVA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914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200" b="1" dirty="0">
                <a:solidFill>
                  <a:srgbClr val="3FCA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Mr.</a:t>
            </a:r>
            <a:endParaRPr lang="en-US" sz="8200" dirty="0"/>
          </a:p>
        </p:txBody>
      </p:sp>
      <p:sp>
        <p:nvSpPr>
          <p:cNvPr id="15" name="Text 13"/>
          <p:cNvSpPr/>
          <p:nvPr/>
        </p:nvSpPr>
        <p:spPr>
          <a:xfrm>
            <a:off x="457200" y="1691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Ruta.</a:t>
            </a:r>
            <a:endParaRPr lang="en-US" sz="82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CA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Sargento de Hierro de tu Logística.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somos un GPS.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tu rentabilidad blindada.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 · REPARTO · AUTOVENTA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2080" y="1188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DSD de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Clase Mundial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5349240" y="2651760"/>
            <a:ext cx="1051560" cy="822960"/>
          </a:xfrm>
          <a:prstGeom prst="rect">
            <a:avLst/>
          </a:prstGeom>
          <a:solidFill>
            <a:srgbClr val="031A09"/>
          </a:solidFill>
          <a:ln w="12700">
            <a:solidFill>
              <a:srgbClr val="1290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2670048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CA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31363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 META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583680" y="2651760"/>
            <a:ext cx="1051560" cy="822960"/>
          </a:xfrm>
          <a:prstGeom prst="rect">
            <a:avLst/>
          </a:prstGeom>
          <a:solidFill>
            <a:srgbClr val="031A09"/>
          </a:solidFill>
          <a:ln w="12700">
            <a:solidFill>
              <a:srgbClr val="1290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670048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CA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7min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83680" y="31363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VISITA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818120" y="2651760"/>
            <a:ext cx="1051560" cy="822960"/>
          </a:xfrm>
          <a:prstGeom prst="rect">
            <a:avLst/>
          </a:prstGeom>
          <a:solidFill>
            <a:srgbClr val="031A09"/>
          </a:solidFill>
          <a:ln w="12700">
            <a:solidFill>
              <a:srgbClr val="1290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2670048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CA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818120" y="31363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HORMIGA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A4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DSD · CEDIS WMS · Monterrey, México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2905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4747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2905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566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03120" y="164592"/>
            <a:ext cx="6675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¿Cuánto dinero se pierde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día sin control?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2743200" cy="1536192"/>
          </a:xfrm>
          <a:prstGeom prst="rect">
            <a:avLst/>
          </a:prstGeom>
          <a:solidFill>
            <a:srgbClr val="111C15"/>
          </a:solidFill>
          <a:ln w="12700">
            <a:solidFill>
              <a:srgbClr val="C428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234440"/>
            <a:ext cx="36576" cy="1536192"/>
          </a:xfrm>
          <a:prstGeom prst="rect">
            <a:avLst/>
          </a:prstGeom>
          <a:solidFill>
            <a:srgbClr val="C4282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4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3–8%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59736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🕵️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" y="185623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Robo hormiga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121408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inventario se pierde por pedidos manuales sin autorización y ajustes sin doble firma.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1234440"/>
            <a:ext cx="2743200" cy="1536192"/>
          </a:xfrm>
          <a:prstGeom prst="rect">
            <a:avLst/>
          </a:prstGeom>
          <a:solidFill>
            <a:srgbClr val="111C15"/>
          </a:solidFill>
          <a:ln w="12700">
            <a:solidFill>
              <a:srgbClr val="C428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234440"/>
            <a:ext cx="36576" cy="1536192"/>
          </a:xfrm>
          <a:prstGeom prst="rect">
            <a:avLst/>
          </a:prstGeom>
          <a:solidFill>
            <a:srgbClr val="C4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4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&lt;92%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85816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46120" y="185623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Rate bajo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46120" y="2121408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sin surtido individual por cliente. Cada punto = miles de pesos en rechazos.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1234440"/>
            <a:ext cx="2743200" cy="1536192"/>
          </a:xfrm>
          <a:prstGeom prst="rect">
            <a:avLst/>
          </a:prstGeom>
          <a:solidFill>
            <a:srgbClr val="111C15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234440"/>
            <a:ext cx="36576" cy="15361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min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311896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172200" y="185623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Visitas largas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2121408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por visita sin control de tiempo. El potencial es 7 min — la mitad perdida.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2944368"/>
            <a:ext cx="2743200" cy="1536192"/>
          </a:xfrm>
          <a:prstGeom prst="rect">
            <a:avLst/>
          </a:prstGeom>
          <a:solidFill>
            <a:srgbClr val="111C15"/>
          </a:solidFill>
          <a:ln w="12700">
            <a:solidFill>
              <a:srgbClr val="C428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944368"/>
            <a:ext cx="36576" cy="1536192"/>
          </a:xfrm>
          <a:prstGeom prst="rect">
            <a:avLst/>
          </a:prstGeom>
          <a:solidFill>
            <a:srgbClr val="C42828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0358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4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$33K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2459736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20040" y="35661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Merma caducidad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" y="383133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riesgo por un solo lote vencido. Sin FEFO automatizado, la destrucción es silenciosa.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54680" y="2944368"/>
            <a:ext cx="2743200" cy="1536192"/>
          </a:xfrm>
          <a:prstGeom prst="rect">
            <a:avLst/>
          </a:prstGeom>
          <a:solidFill>
            <a:srgbClr val="111C15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54680" y="2944368"/>
            <a:ext cx="36576" cy="15361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3246120" y="30358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fotos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385816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246120" y="35661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evidencia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46120" y="383133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60% de visitas. Sin foto del rechazo o el anaquel: sin defensa legal ni comercial.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80760" y="2944368"/>
            <a:ext cx="2743200" cy="1536192"/>
          </a:xfrm>
          <a:prstGeom prst="rect">
            <a:avLst/>
          </a:prstGeom>
          <a:solidFill>
            <a:srgbClr val="111C15"/>
          </a:solidFill>
          <a:ln w="12700">
            <a:solidFill>
              <a:srgbClr val="C428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80760" y="2944368"/>
            <a:ext cx="36576" cy="1536192"/>
          </a:xfrm>
          <a:prstGeom prst="rect">
            <a:avLst/>
          </a:prstGeom>
          <a:solidFill>
            <a:srgbClr val="C42828"/>
          </a:solidFill>
          <a:ln/>
        </p:spPr>
      </p:sp>
      <p:sp>
        <p:nvSpPr>
          <p:cNvPr id="39" name="Text 37"/>
          <p:cNvSpPr/>
          <p:nvPr/>
        </p:nvSpPr>
        <p:spPr>
          <a:xfrm>
            <a:off x="6172200" y="30358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4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+30%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8311896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172200" y="35661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Rutas ciegas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72200" y="383133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kilometraje desperdiciado sin algoritmo de optimización. El camión gasta; no vende.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A40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de estos problemas tiene solución. Mr. Ruta los resuelve todos — simultáneamente.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7A40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3FCA88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73152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MR.</a:t>
            </a:r>
            <a:endParaRPr lang="en-US" sz="7200" dirty="0"/>
          </a:p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28600" y="3063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2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Sargento de Hierro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C2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operación."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3840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2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GPS. No es un Excel.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2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sistema que fuerza procesos,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2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errores y predice fallas.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0480" y="274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MOTORES DE RENTABILIDAD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0" y="56692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sistema que gobierna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operación completa.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749040" y="1389888"/>
            <a:ext cx="5212080" cy="1078992"/>
          </a:xfrm>
          <a:prstGeom prst="rect">
            <a:avLst/>
          </a:prstGeom>
          <a:solidFill>
            <a:srgbClr val="111C1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49040" y="1389888"/>
            <a:ext cx="54864" cy="1078992"/>
          </a:xfrm>
          <a:prstGeom prst="rect">
            <a:avLst/>
          </a:prstGeom>
          <a:solidFill>
            <a:srgbClr val="18B36B"/>
          </a:solidFill>
          <a:ln/>
        </p:spPr>
      </p:sp>
      <p:sp>
        <p:nvSpPr>
          <p:cNvPr id="11" name="Text 9"/>
          <p:cNvSpPr/>
          <p:nvPr/>
        </p:nvSpPr>
        <p:spPr>
          <a:xfrm>
            <a:off x="3886200" y="149961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8B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07408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07408" y="17373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Hierro en Campo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07408" y="195681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Pasos de Oro en secuencia forzada · Geofencing de entrada · Cierre bloqueado hasta completar inventario · Score de visita en tiempo real · Prospección inteligente DENUE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2578608"/>
            <a:ext cx="5212080" cy="1078992"/>
          </a:xfrm>
          <a:prstGeom prst="rect">
            <a:avLst/>
          </a:prstGeom>
          <a:solidFill>
            <a:srgbClr val="111C1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2578608"/>
            <a:ext cx="54864" cy="10789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3886200" y="26883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07408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REPARTO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07408" y="29260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 Delivery Garantizado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07408" y="314553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Surtido individual por cliente · Fill Rate 99% · Evidencia de rechazo obligatoria · Time to Load monitoreado · Redirección automática de pedidos rechazados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49040" y="3767328"/>
            <a:ext cx="5212080" cy="1078992"/>
          </a:xfrm>
          <a:prstGeom prst="rect">
            <a:avLst/>
          </a:prstGeom>
          <a:solidFill>
            <a:srgbClr val="111C1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3767328"/>
            <a:ext cx="54864" cy="1078992"/>
          </a:xfrm>
          <a:prstGeom prst="rect">
            <a:avLst/>
          </a:prstGeom>
          <a:solidFill>
            <a:srgbClr val="1A5EC8"/>
          </a:solidFill>
          <a:ln/>
        </p:spPr>
      </p:sp>
      <p:sp>
        <p:nvSpPr>
          <p:cNvPr id="23" name="Text 21"/>
          <p:cNvSpPr/>
          <p:nvPr/>
        </p:nvSpPr>
        <p:spPr>
          <a:xfrm>
            <a:off x="3886200" y="38770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5E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407408" y="3858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AUTOVENTA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07408" y="41148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Directo en el Anaquel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07408" y="433425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huecos por IA · Sugerido automático con $ ganancia para el cliente · Gestión FEFO de productos próximos a vencer · Control de inventario vs. teórico en camión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8B36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2905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834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INNOVACIONES v3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03120" y="164592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herramientas que marcan la diferencia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4114800" cy="3611880"/>
          </a:xfrm>
          <a:prstGeom prst="rect">
            <a:avLst/>
          </a:prstGeom>
          <a:solidFill>
            <a:srgbClr val="111C15"/>
          </a:solidFill>
          <a:ln w="19050">
            <a:solidFill>
              <a:srgbClr val="12905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51560"/>
            <a:ext cx="4114800" cy="54864"/>
          </a:xfrm>
          <a:prstGeom prst="rect">
            <a:avLst/>
          </a:prstGeom>
          <a:solidFill>
            <a:srgbClr val="18B36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704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CA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⏱  EL SARGENTO TIMER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536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vendedor que tarda = dinero que se pierde"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920240"/>
            <a:ext cx="3749040" cy="685800"/>
          </a:xfrm>
          <a:prstGeom prst="rect">
            <a:avLst/>
          </a:prstGeom>
          <a:solidFill>
            <a:srgbClr val="031A09"/>
          </a:solidFill>
          <a:ln w="12700">
            <a:solidFill>
              <a:srgbClr val="0D7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3852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5:42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24028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7:00 meta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2304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SARGENTO: Zona óptima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7249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TIEMPO: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9718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2416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Óptimo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2735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2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" y="32735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Confirmar pedido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5753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42416" y="35753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Finalizar ya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87705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42416" y="38770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ALARMA + vibración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224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eficiencia diario alimenta bono de ejecución del vendedor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051560"/>
            <a:ext cx="4251960" cy="3611880"/>
          </a:xfrm>
          <a:prstGeom prst="rect">
            <a:avLst/>
          </a:prstGeom>
          <a:solidFill>
            <a:srgbClr val="111C15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051560"/>
            <a:ext cx="4251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1704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EE9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📸  "FOTO O NO EXISTE"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15361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evidencias obligatorias por visita · Sin foto = visita incompleta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1901952"/>
            <a:ext cx="3977640" cy="621792"/>
          </a:xfrm>
          <a:prstGeom prst="rect">
            <a:avLst/>
          </a:prstGeom>
          <a:solidFill>
            <a:srgbClr val="0D2818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956816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166360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🏪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77840" y="19568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— Foto del anaquel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77840" y="22128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CA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detecta huecos automáticamente. Sin visita previa en papel.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2615184"/>
            <a:ext cx="3977640" cy="621792"/>
          </a:xfrm>
          <a:prstGeom prst="rect">
            <a:avLst/>
          </a:prstGeom>
          <a:solidFill>
            <a:srgbClr val="0D2818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670048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16636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577840" y="26700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Exhibición propia y Trade Mkt.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77840" y="29260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CA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del cumplimiento de acuerdos de espacio con el cliente.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3328416"/>
            <a:ext cx="3977640" cy="621792"/>
          </a:xfrm>
          <a:prstGeom prst="rect">
            <a:avLst/>
          </a:prstGeom>
          <a:solidFill>
            <a:srgbClr val="0D2818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38328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16636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577840" y="33832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 de pedido (si aplica)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77840" y="36393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CA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legal y comercial. Sin foto: sin defensa posible.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4041648"/>
            <a:ext cx="3977640" cy="621792"/>
          </a:xfrm>
          <a:prstGeom prst="rect">
            <a:avLst/>
          </a:prstGeom>
          <a:solidFill>
            <a:srgbClr val="0D2818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4096512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1663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5577840" y="40965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— Anaquel surtido + ticket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577840" y="43525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CA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 entrega. Número de pedido visible para el dueño.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A40"/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funcionalidades forman parte del paquete estándar Mr. Ruta v3 — sin costo adicional.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7090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0"/>
            <a:ext cx="45720" cy="5143500"/>
          </a:xfrm>
          <a:prstGeom prst="rect">
            <a:avLst/>
          </a:prstGeom>
          <a:solidFill>
            <a:srgbClr val="129057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2004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12905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291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CEDIS WMS DASHBOARD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Torre de Control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en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Tiempo Real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21284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CEDIS deja de ser un depósito y se convierte en un motor de despacho eficiente, visible y auditable desde cualquier pantalla.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3200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🔺  Triángulo de Oro: Alertas (centro) · Flujo en vivo (izq) · KPIs (der)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3566160"/>
            <a:ext cx="3108960" cy="0"/>
          </a:xfrm>
          <a:prstGeom prst="line">
            <a:avLst/>
          </a:prstGeom>
          <a:noFill/>
          <a:ln w="6350">
            <a:solidFill>
              <a:srgbClr val="0D28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6301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Drill-down Bottom-Up: de un cliente rechazado al dashboard directivo en 1 clic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995928"/>
            <a:ext cx="3108960" cy="0"/>
          </a:xfrm>
          <a:prstGeom prst="line">
            <a:avLst/>
          </a:prstGeom>
          <a:noFill/>
          <a:ln w="6350">
            <a:solidFill>
              <a:srgbClr val="0D28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0599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BroadcastChannel API: pedido confirmado en campo → aparece en CEDIS en &lt;100ms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425696"/>
            <a:ext cx="3108960" cy="0"/>
          </a:xfrm>
          <a:prstGeom prst="line">
            <a:avLst/>
          </a:prstGeom>
          <a:noFill/>
          <a:ln w="6350">
            <a:solidFill>
              <a:srgbClr val="0D28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48970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GPS en vivo de 6 rutas + geofencing + alertas de desvío &gt;10 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86200" y="256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KPIs CON SEMÁFORO R-A-V EN TIEMPO REAL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86200" y="640080"/>
            <a:ext cx="1188720" cy="1024128"/>
          </a:xfrm>
          <a:prstGeom prst="rect">
            <a:avLst/>
          </a:prstGeom>
          <a:solidFill>
            <a:srgbClr val="111C15"/>
          </a:solidFill>
          <a:ln w="12700">
            <a:solidFill>
              <a:srgbClr val="18B3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90872" y="69494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22776" y="85953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8B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922776" y="133502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166360" y="640080"/>
            <a:ext cx="1188720" cy="1024128"/>
          </a:xfrm>
          <a:prstGeom prst="rect">
            <a:avLst/>
          </a:prstGeom>
          <a:solidFill>
            <a:srgbClr val="111C15"/>
          </a:solidFill>
          <a:ln w="12700">
            <a:solidFill>
              <a:srgbClr val="18B3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71032" y="69494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🟢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02936" y="85953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8B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202936" y="133502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46520" y="640080"/>
            <a:ext cx="1188720" cy="1024128"/>
          </a:xfrm>
          <a:prstGeom prst="rect">
            <a:avLst/>
          </a:prstGeom>
          <a:solidFill>
            <a:srgbClr val="111C15"/>
          </a:solidFill>
          <a:ln w="12700">
            <a:solidFill>
              <a:srgbClr val="18B3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51192" y="69494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🟢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83096" y="85953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8B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96.4%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483096" y="133502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726680" y="640080"/>
            <a:ext cx="1188720" cy="1024128"/>
          </a:xfrm>
          <a:prstGeom prst="rect">
            <a:avLst/>
          </a:prstGeom>
          <a:solidFill>
            <a:srgbClr val="111C15"/>
          </a:solidFill>
          <a:ln w="12700">
            <a:solidFill>
              <a:srgbClr val="18B3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531352" y="69494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🟢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63256" y="85953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8B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28d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763256" y="133502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Cobro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86200" y="1783080"/>
            <a:ext cx="1188720" cy="1024128"/>
          </a:xfrm>
          <a:prstGeom prst="rect">
            <a:avLst/>
          </a:prstGeom>
          <a:solidFill>
            <a:srgbClr val="111C15"/>
          </a:solidFill>
          <a:ln w="12700">
            <a:solidFill>
              <a:srgbClr val="18B3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90872" y="183794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🟢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22776" y="200253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8B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5:42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3922776" y="247802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Tiempo/Visita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66360" y="1783080"/>
            <a:ext cx="1188720" cy="1024128"/>
          </a:xfrm>
          <a:prstGeom prst="rect">
            <a:avLst/>
          </a:prstGeom>
          <a:solidFill>
            <a:srgbClr val="111C15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71032" y="183794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🟡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02936" y="200253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5202936" y="247802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46520" y="1783080"/>
            <a:ext cx="1188720" cy="1024128"/>
          </a:xfrm>
          <a:prstGeom prst="rect">
            <a:avLst/>
          </a:prstGeom>
          <a:solidFill>
            <a:srgbClr val="111C15"/>
          </a:solidFill>
          <a:ln w="12700">
            <a:solidFill>
              <a:srgbClr val="18B3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251192" y="183794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🟢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83096" y="200253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8B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$42K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483096" y="247802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Rec. IVA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726680" y="1783080"/>
            <a:ext cx="1188720" cy="1024128"/>
          </a:xfrm>
          <a:prstGeom prst="rect">
            <a:avLst/>
          </a:prstGeom>
          <a:solidFill>
            <a:srgbClr val="111C15"/>
          </a:solidFill>
          <a:ln w="12700">
            <a:solidFill>
              <a:srgbClr val="18B3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531352" y="183794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🟢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763256" y="200253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8B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7763256" y="247802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Pedidos/día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886200" y="28529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 EN VIVO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840480" y="3182112"/>
            <a:ext cx="1051560" cy="868680"/>
          </a:xfrm>
          <a:prstGeom prst="rect">
            <a:avLst/>
          </a:prstGeom>
          <a:solidFill>
            <a:srgbClr val="031A09"/>
          </a:solidFill>
          <a:ln w="12700">
            <a:solidFill>
              <a:srgbClr val="0D7A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0" y="320040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901184" y="3621024"/>
            <a:ext cx="347472" cy="0"/>
          </a:xfrm>
          <a:prstGeom prst="line">
            <a:avLst/>
          </a:prstGeom>
          <a:noFill/>
          <a:ln w="19050">
            <a:solidFill>
              <a:srgbClr val="12905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56048" y="35295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B36B"/>
                </a:solidFill>
              </a:rPr>
              <a:t>▶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074920" y="3182112"/>
            <a:ext cx="1051560" cy="868680"/>
          </a:xfrm>
          <a:prstGeom prst="rect">
            <a:avLst/>
          </a:prstGeom>
          <a:solidFill>
            <a:srgbClr val="031A09"/>
          </a:solidFill>
          <a:ln w="12700">
            <a:solidFill>
              <a:srgbClr val="0D7A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74920" y="320040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135624" y="3621024"/>
            <a:ext cx="347472" cy="0"/>
          </a:xfrm>
          <a:prstGeom prst="line">
            <a:avLst/>
          </a:prstGeom>
          <a:noFill/>
          <a:ln w="19050">
            <a:solidFill>
              <a:srgbClr val="12905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90488" y="35295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B36B"/>
                </a:solidFill>
              </a:rPr>
              <a:t>▶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309360" y="3182112"/>
            <a:ext cx="1051560" cy="868680"/>
          </a:xfrm>
          <a:prstGeom prst="rect">
            <a:avLst/>
          </a:prstGeom>
          <a:solidFill>
            <a:srgbClr val="031A09"/>
          </a:solidFill>
          <a:ln w="12700">
            <a:solidFill>
              <a:srgbClr val="0D7A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320040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370064" y="3621024"/>
            <a:ext cx="347472" cy="0"/>
          </a:xfrm>
          <a:prstGeom prst="line">
            <a:avLst/>
          </a:prstGeom>
          <a:noFill/>
          <a:ln w="19050">
            <a:solidFill>
              <a:srgbClr val="12905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24928" y="35295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B36B"/>
                </a:solidFill>
              </a:rPr>
              <a:t>▶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543800" y="3182112"/>
            <a:ext cx="1051560" cy="868680"/>
          </a:xfrm>
          <a:prstGeom prst="rect">
            <a:avLst/>
          </a:prstGeom>
          <a:solidFill>
            <a:srgbClr val="031A09"/>
          </a:solidFill>
          <a:ln w="12700">
            <a:solidFill>
              <a:srgbClr val="0D7A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43800" y="320040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840480" y="4114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 · Sin servidor · Funciona 100% offline en campo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3840480" y="44348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DEL DASHBOARD: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840480" y="46268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Pedidos en vivo · Inventario FEFO · Despacho de rutas · Sargento Monitor · Cumplimiento Fotos · Seguridad Patrimonial · Reportes · Conectividad API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50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C4282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2004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12905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291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PATRIMONIAL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0" y="16459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Cero robo hormiga. Cero inventario sin dueño.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2331720" cy="1828800"/>
          </a:xfrm>
          <a:prstGeom prst="rect">
            <a:avLst/>
          </a:prstGeom>
          <a:solidFill>
            <a:srgbClr val="1A0505"/>
          </a:solidFill>
          <a:ln w="25400">
            <a:solidFill>
              <a:srgbClr val="C4282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097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4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3–8%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28600" y="2011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INVENTARIO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100" kern="0" dirty="0">
                <a:solidFill>
                  <a:srgbClr val="F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RIESGO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100" kern="0" dirty="0">
                <a:solidFill>
                  <a:srgbClr val="F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1051560"/>
            <a:ext cx="3017520" cy="1828800"/>
          </a:xfrm>
          <a:prstGeom prst="rect">
            <a:avLst/>
          </a:prstGeom>
          <a:solidFill>
            <a:srgbClr val="111C15"/>
          </a:solidFill>
          <a:ln w="19050">
            <a:solidFill>
              <a:srgbClr val="C428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88920" y="1051560"/>
            <a:ext cx="3017520" cy="45720"/>
          </a:xfrm>
          <a:prstGeom prst="rect">
            <a:avLst/>
          </a:prstGeom>
          <a:solidFill>
            <a:srgbClr val="C4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926080" y="1709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Doble Autorización Obligatoria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0848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A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pedido manual ni ajuste de inventario pasa sin firma de Supervisor + Finanzas. Todo queda en log de auditoría con timestamp.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1051560"/>
            <a:ext cx="3017520" cy="1828800"/>
          </a:xfrm>
          <a:prstGeom prst="rect">
            <a:avLst/>
          </a:prstGeom>
          <a:solidFill>
            <a:srgbClr val="111C15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051560"/>
            <a:ext cx="301752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1709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Báscula Integrada en Rampa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0848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A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peso físico difiere &gt;1% del sistema, la ruta NO se despacha. El camión no sale con mercancía sin cuadrar contra el pedido.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88920" y="3017520"/>
            <a:ext cx="3017520" cy="1828800"/>
          </a:xfrm>
          <a:prstGeom prst="rect">
            <a:avLst/>
          </a:prstGeom>
          <a:solidFill>
            <a:srgbClr val="111C15"/>
          </a:solidFill>
          <a:ln w="19050">
            <a:solidFill>
              <a:srgbClr val="18B3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88920" y="3017520"/>
            <a:ext cx="3017520" cy="45720"/>
          </a:xfrm>
          <a:prstGeom prst="rect">
            <a:avLst/>
          </a:prstGeom>
          <a:solidFill>
            <a:srgbClr val="18B36B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926080" y="3675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Geofencing Anti-Desvío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4050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A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automática si una unidad abandona su ruta por más de 10 minutos. El supervisor ve el desvío en tiempo real en el mapa.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3017520"/>
            <a:ext cx="3017520" cy="1828800"/>
          </a:xfrm>
          <a:prstGeom prst="rect">
            <a:avLst/>
          </a:prstGeom>
          <a:solidFill>
            <a:srgbClr val="111C15"/>
          </a:solidFill>
          <a:ln w="19050">
            <a:solidFill>
              <a:srgbClr val="72A9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3017520"/>
            <a:ext cx="3017520" cy="45720"/>
          </a:xfrm>
          <a:prstGeom prst="rect">
            <a:avLst/>
          </a:prstGeom>
          <a:solidFill>
            <a:srgbClr val="72A9F4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📸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126480" y="3675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Evidencia Fotográfica Inviolable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4050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A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fotos obligatorias por visita. La foto de rechazo con el dueño visible es la defensa legal más poderosa contra devoluciones fraudulentas.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A40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"Nadie mueve inventario solo" — La regla de oro que elimina el robo hormiga y el error humano de raíz.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5C2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1554480" cy="256032"/>
          </a:xfrm>
          <a:prstGeom prst="roundRect">
            <a:avLst>
              <a:gd name="adj" fmla="val 21429"/>
            </a:avLst>
          </a:prstGeom>
          <a:solidFill>
            <a:srgbClr val="12905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291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MEDIBLE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94560" y="1828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Mr. Ruta genera en números concretos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88920" cy="1783080"/>
          </a:xfrm>
          <a:prstGeom prst="rect">
            <a:avLst/>
          </a:prstGeom>
          <a:solidFill>
            <a:srgbClr val="111C15"/>
          </a:solidFill>
          <a:ln w="19050">
            <a:solidFill>
              <a:srgbClr val="18B3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788920" cy="36576"/>
          </a:xfrm>
          <a:prstGeom prst="rect">
            <a:avLst/>
          </a:prstGeom>
          <a:solidFill>
            <a:srgbClr val="18B36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7043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8B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+20–30%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5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KILOMETRAJE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078992"/>
            <a:ext cx="2788920" cy="1783080"/>
          </a:xfrm>
          <a:prstGeom prst="rect">
            <a:avLst/>
          </a:prstGeom>
          <a:solidFill>
            <a:srgbClr val="111C15"/>
          </a:solidFill>
          <a:ln w="19050">
            <a:solidFill>
              <a:srgbClr val="3FCA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078992"/>
            <a:ext cx="2788920" cy="36576"/>
          </a:xfrm>
          <a:prstGeom prst="rect">
            <a:avLst/>
          </a:prstGeom>
          <a:solidFill>
            <a:srgbClr val="3FCA88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117043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FCA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310128" y="21762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5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ALCANZABLE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1078992"/>
            <a:ext cx="2788920" cy="1783080"/>
          </a:xfrm>
          <a:prstGeom prst="rect">
            <a:avLst/>
          </a:prstGeom>
          <a:solidFill>
            <a:srgbClr val="111C15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078992"/>
            <a:ext cx="278892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117043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−50%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254496" y="21762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5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VISITA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2788920" cy="1783080"/>
          </a:xfrm>
          <a:prstGeom prst="rect">
            <a:avLst/>
          </a:prstGeom>
          <a:solidFill>
            <a:srgbClr val="111C15"/>
          </a:solidFill>
          <a:ln w="19050">
            <a:solidFill>
              <a:srgbClr val="18B3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17520"/>
            <a:ext cx="2788920" cy="36576"/>
          </a:xfrm>
          <a:prstGeom prst="rect">
            <a:avLst/>
          </a:prstGeom>
          <a:solidFill>
            <a:srgbClr val="18B36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1089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8B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365760" y="41148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MANUALES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5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AUTORIZAR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18688" y="3017520"/>
            <a:ext cx="2788920" cy="1783080"/>
          </a:xfrm>
          <a:prstGeom prst="rect">
            <a:avLst/>
          </a:prstGeom>
          <a:solidFill>
            <a:srgbClr val="111C15"/>
          </a:solidFill>
          <a:ln w="19050">
            <a:solidFill>
              <a:srgbClr val="3FCA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3017520"/>
            <a:ext cx="2788920" cy="36576"/>
          </a:xfrm>
          <a:prstGeom prst="rect">
            <a:avLst/>
          </a:prstGeom>
          <a:solidFill>
            <a:srgbClr val="3FCA88"/>
          </a:solidFill>
          <a:ln/>
        </p:spPr>
      </p:sp>
      <p:sp>
        <p:nvSpPr>
          <p:cNvPr id="24" name="Text 22"/>
          <p:cNvSpPr/>
          <p:nvPr/>
        </p:nvSpPr>
        <p:spPr>
          <a:xfrm>
            <a:off x="3310128" y="31089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FCA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+35%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3310128" y="41148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POR HUECO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5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63056" y="3017520"/>
            <a:ext cx="2788920" cy="1783080"/>
          </a:xfrm>
          <a:prstGeom prst="rect">
            <a:avLst/>
          </a:prstGeom>
          <a:solidFill>
            <a:srgbClr val="111C15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3017520"/>
            <a:ext cx="278892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6254496" y="31089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6254496" y="41148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VISUAL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5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VISITA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C15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basados en benchmarks de industria DSD (Manhattan Associates, JDA) y operaciones reales de distribución en México.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18B36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2004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2905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291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COMPETENCIA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7744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Mr. Ruta y no otro sistema?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24128"/>
            <a:ext cx="2560320" cy="347472"/>
          </a:xfrm>
          <a:prstGeom prst="rect">
            <a:avLst/>
          </a:prstGeom>
          <a:solidFill>
            <a:srgbClr val="111C15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241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1024128"/>
            <a:ext cx="2103120" cy="347472"/>
          </a:xfrm>
          <a:prstGeom prst="rect">
            <a:avLst/>
          </a:prstGeom>
          <a:solidFill>
            <a:srgbClr val="111C15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024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Optimobility / Vitere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92040" y="1024128"/>
            <a:ext cx="2103120" cy="347472"/>
          </a:xfrm>
          <a:prstGeom prst="rect">
            <a:avLst/>
          </a:prstGeom>
          <a:solidFill>
            <a:srgbClr val="111C15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24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Genérico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95160" y="1024128"/>
            <a:ext cx="1920240" cy="347472"/>
          </a:xfrm>
          <a:prstGeom prst="rect">
            <a:avLst/>
          </a:prstGeom>
          <a:solidFill>
            <a:srgbClr val="031A09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024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29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RUTA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1371600"/>
            <a:ext cx="2560320" cy="384048"/>
          </a:xfrm>
          <a:prstGeom prst="rect">
            <a:avLst/>
          </a:prstGeom>
          <a:solidFill>
            <a:srgbClr val="111C15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1371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Surtido individual por cliente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88920" y="1371600"/>
            <a:ext cx="2103120" cy="384048"/>
          </a:xfrm>
          <a:prstGeom prst="rect">
            <a:avLst/>
          </a:prstGeom>
          <a:solidFill>
            <a:srgbClr val="111C15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62072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Parcial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1371600"/>
            <a:ext cx="2103120" cy="384048"/>
          </a:xfrm>
          <a:prstGeom prst="rect">
            <a:avLst/>
          </a:prstGeom>
          <a:solidFill>
            <a:srgbClr val="111C15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95160" y="1371600"/>
            <a:ext cx="1920240" cy="384048"/>
          </a:xfrm>
          <a:prstGeom prst="rect">
            <a:avLst/>
          </a:prstGeom>
          <a:solidFill>
            <a:srgbClr val="031A09"/>
          </a:solidFill>
          <a:ln w="12700">
            <a:solidFill>
              <a:srgbClr val="0D7A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8312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Sí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1773936"/>
            <a:ext cx="2560320" cy="384048"/>
          </a:xfrm>
          <a:prstGeom prst="rect">
            <a:avLst/>
          </a:prstGeom>
          <a:solidFill>
            <a:srgbClr val="0E1812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" y="177393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Sargento Timer con alarma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88920" y="1773936"/>
            <a:ext cx="2103120" cy="384048"/>
          </a:xfrm>
          <a:prstGeom prst="rect">
            <a:avLst/>
          </a:prstGeom>
          <a:solidFill>
            <a:srgbClr val="0E1812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62072" y="17739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1773936"/>
            <a:ext cx="2103120" cy="384048"/>
          </a:xfrm>
          <a:prstGeom prst="rect">
            <a:avLst/>
          </a:prstGeom>
          <a:solidFill>
            <a:srgbClr val="0E1812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17739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95160" y="1773936"/>
            <a:ext cx="1920240" cy="384048"/>
          </a:xfrm>
          <a:prstGeom prst="rect">
            <a:avLst/>
          </a:prstGeom>
          <a:solidFill>
            <a:srgbClr val="031A09"/>
          </a:solidFill>
          <a:ln w="12700">
            <a:solidFill>
              <a:srgbClr val="0D7A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68312" y="17739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Sí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8600" y="2176272"/>
            <a:ext cx="2560320" cy="384048"/>
          </a:xfrm>
          <a:prstGeom prst="rect">
            <a:avLst/>
          </a:prstGeom>
          <a:solidFill>
            <a:srgbClr val="111C15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" y="21762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Foto 4 pasos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88920" y="2176272"/>
            <a:ext cx="2103120" cy="384048"/>
          </a:xfrm>
          <a:prstGeom prst="rect">
            <a:avLst/>
          </a:prstGeom>
          <a:solidFill>
            <a:srgbClr val="111C15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62072" y="21762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92040" y="2176272"/>
            <a:ext cx="2103120" cy="384048"/>
          </a:xfrm>
          <a:prstGeom prst="rect">
            <a:avLst/>
          </a:prstGeom>
          <a:solidFill>
            <a:srgbClr val="111C15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65192" y="21762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95160" y="2176272"/>
            <a:ext cx="1920240" cy="384048"/>
          </a:xfrm>
          <a:prstGeom prst="rect">
            <a:avLst/>
          </a:prstGeom>
          <a:solidFill>
            <a:srgbClr val="031A09"/>
          </a:solidFill>
          <a:ln w="12700">
            <a:solidFill>
              <a:srgbClr val="0D7A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68312" y="2176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Sí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28600" y="2578608"/>
            <a:ext cx="2560320" cy="384048"/>
          </a:xfrm>
          <a:prstGeom prst="rect">
            <a:avLst/>
          </a:prstGeom>
          <a:solidFill>
            <a:srgbClr val="0E1812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" y="25786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Autorización Patrimonial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88920" y="2578608"/>
            <a:ext cx="2103120" cy="384048"/>
          </a:xfrm>
          <a:prstGeom prst="rect">
            <a:avLst/>
          </a:prstGeom>
          <a:solidFill>
            <a:srgbClr val="0E1812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62072" y="2578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Básica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92040" y="2578608"/>
            <a:ext cx="2103120" cy="384048"/>
          </a:xfrm>
          <a:prstGeom prst="rect">
            <a:avLst/>
          </a:prstGeom>
          <a:solidFill>
            <a:srgbClr val="0E1812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5192" y="2578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995160" y="2578608"/>
            <a:ext cx="1920240" cy="384048"/>
          </a:xfrm>
          <a:prstGeom prst="rect">
            <a:avLst/>
          </a:prstGeom>
          <a:solidFill>
            <a:srgbClr val="031A09"/>
          </a:solidFill>
          <a:ln w="12700">
            <a:solidFill>
              <a:srgbClr val="0D7A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68312" y="2578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Sí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28600" y="2980944"/>
            <a:ext cx="2560320" cy="384048"/>
          </a:xfrm>
          <a:prstGeom prst="rect">
            <a:avLst/>
          </a:prstGeom>
          <a:solidFill>
            <a:srgbClr val="111C15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" y="29809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clientes sin internet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788920" y="2980944"/>
            <a:ext cx="2103120" cy="384048"/>
          </a:xfrm>
          <a:prstGeom prst="rect">
            <a:avLst/>
          </a:prstGeom>
          <a:solidFill>
            <a:srgbClr val="111C15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62072" y="29809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892040" y="2980944"/>
            <a:ext cx="2103120" cy="384048"/>
          </a:xfrm>
          <a:prstGeom prst="rect">
            <a:avLst/>
          </a:prstGeom>
          <a:solidFill>
            <a:srgbClr val="111C15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65192" y="29809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995160" y="2980944"/>
            <a:ext cx="1920240" cy="384048"/>
          </a:xfrm>
          <a:prstGeom prst="rect">
            <a:avLst/>
          </a:prstGeom>
          <a:solidFill>
            <a:srgbClr val="031A09"/>
          </a:solidFill>
          <a:ln w="12700">
            <a:solidFill>
              <a:srgbClr val="0D7A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68312" y="29809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Sí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28600" y="3383280"/>
            <a:ext cx="2560320" cy="384048"/>
          </a:xfrm>
          <a:prstGeom prst="rect">
            <a:avLst/>
          </a:prstGeom>
          <a:solidFill>
            <a:srgbClr val="0E1812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1752" y="33832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RAV en tiempo real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788920" y="3383280"/>
            <a:ext cx="2103120" cy="384048"/>
          </a:xfrm>
          <a:prstGeom prst="rect">
            <a:avLst/>
          </a:prstGeom>
          <a:solidFill>
            <a:srgbClr val="0E1812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62072" y="3383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Parcial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892040" y="3383280"/>
            <a:ext cx="2103120" cy="384048"/>
          </a:xfrm>
          <a:prstGeom prst="rect">
            <a:avLst/>
          </a:prstGeom>
          <a:solidFill>
            <a:srgbClr val="0E1812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65192" y="3383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Básico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995160" y="3383280"/>
            <a:ext cx="1920240" cy="384048"/>
          </a:xfrm>
          <a:prstGeom prst="rect">
            <a:avLst/>
          </a:prstGeom>
          <a:solidFill>
            <a:srgbClr val="031A09"/>
          </a:solidFill>
          <a:ln w="12700">
            <a:solidFill>
              <a:srgbClr val="0D7A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68312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Sí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28600" y="3785616"/>
            <a:ext cx="2560320" cy="384048"/>
          </a:xfrm>
          <a:prstGeom prst="rect">
            <a:avLst/>
          </a:prstGeom>
          <a:solidFill>
            <a:srgbClr val="111C15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1752" y="37856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Recuperación IVA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788920" y="3785616"/>
            <a:ext cx="2103120" cy="384048"/>
          </a:xfrm>
          <a:prstGeom prst="rect">
            <a:avLst/>
          </a:prstGeom>
          <a:solidFill>
            <a:srgbClr val="111C15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862072" y="37856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892040" y="3785616"/>
            <a:ext cx="2103120" cy="384048"/>
          </a:xfrm>
          <a:prstGeom prst="rect">
            <a:avLst/>
          </a:prstGeom>
          <a:solidFill>
            <a:srgbClr val="111C15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65192" y="37856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995160" y="3785616"/>
            <a:ext cx="1920240" cy="384048"/>
          </a:xfrm>
          <a:prstGeom prst="rect">
            <a:avLst/>
          </a:prstGeom>
          <a:solidFill>
            <a:srgbClr val="031A09"/>
          </a:solidFill>
          <a:ln w="12700">
            <a:solidFill>
              <a:srgbClr val="0D7A4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068312" y="37856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Sí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228600" y="4187952"/>
            <a:ext cx="2560320" cy="384048"/>
          </a:xfrm>
          <a:prstGeom prst="rect">
            <a:avLst/>
          </a:prstGeom>
          <a:solidFill>
            <a:srgbClr val="0E1812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1752" y="41879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 sin servidor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2788920" y="4187952"/>
            <a:ext cx="2103120" cy="384048"/>
          </a:xfrm>
          <a:prstGeom prst="rect">
            <a:avLst/>
          </a:prstGeom>
          <a:solidFill>
            <a:srgbClr val="0E1812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862072" y="41879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4892040" y="4187952"/>
            <a:ext cx="2103120" cy="384048"/>
          </a:xfrm>
          <a:prstGeom prst="rect">
            <a:avLst/>
          </a:prstGeom>
          <a:solidFill>
            <a:srgbClr val="0E1812"/>
          </a:solidFill>
          <a:ln w="6350">
            <a:solidFill>
              <a:srgbClr val="111C1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65192" y="41879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995160" y="4187952"/>
            <a:ext cx="1920240" cy="384048"/>
          </a:xfrm>
          <a:prstGeom prst="rect">
            <a:avLst/>
          </a:prstGeom>
          <a:solidFill>
            <a:srgbClr val="031A09"/>
          </a:solidFill>
          <a:ln w="12700">
            <a:solidFill>
              <a:srgbClr val="0D7A4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068312" y="4187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Sí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A40"/>
          </a:solidFill>
          <a:ln/>
        </p:spPr>
      </p:sp>
      <p:sp>
        <p:nvSpPr>
          <p:cNvPr id="80" name="Text 78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competencia ve cajas y kilómetros. Mr. Ruta ve DINERO." — Luis Vilchis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5C2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92608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2905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01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LO NECESITA?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7440" y="182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Mr. Ruta es para ti si tu empresa tiene rutas y pierde dinero en la calle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834640" cy="3840480"/>
          </a:xfrm>
          <a:prstGeom prst="rect">
            <a:avLst/>
          </a:prstGeom>
          <a:solidFill>
            <a:srgbClr val="111C15"/>
          </a:solidFill>
          <a:ln w="19050">
            <a:solidFill>
              <a:srgbClr val="18B3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2834640" cy="45720"/>
          </a:xfrm>
          <a:prstGeom prst="rect">
            <a:avLst/>
          </a:prstGeom>
          <a:solidFill>
            <a:srgbClr val="18B36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🏭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8328" y="17190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DISTRIBUIDORAS DSD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212140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directa de alimentos, bebidas, cuidado personal o productos de limpieza con flota propia y rutas fijas de preventa o reparto.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328" y="312724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EMPRESA NECESITA ESTO SI: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8328" y="33649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Flota de 5 a 500 camionetas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" y="37307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Clientes tienditas, minisupers, HORECA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" y="40965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Productos con fecha de vencimiento (FEFO)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005840"/>
            <a:ext cx="2834640" cy="3840480"/>
          </a:xfrm>
          <a:prstGeom prst="rect">
            <a:avLst/>
          </a:prstGeom>
          <a:solidFill>
            <a:srgbClr val="111C15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05840"/>
            <a:ext cx="283464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🚚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310128" y="17190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CEDIS REGIONALES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0128" y="212140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de distribución que administran múltiples rutas, almacén propio y requieren control total del flujo Recibo → Picking → Rampa → Despacho.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0128" y="312724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EMPRESA NECESITA ESTO SI: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10128" y="33649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Picking por cliente (no por volumen)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0128" y="37307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Control de merma y Fill Rate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40965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Auditoría nocturna de inventario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1005840"/>
            <a:ext cx="2834640" cy="3840480"/>
          </a:xfrm>
          <a:prstGeom prst="rect">
            <a:avLst/>
          </a:prstGeom>
          <a:solidFill>
            <a:srgbClr val="111C15"/>
          </a:solidFill>
          <a:ln w="19050">
            <a:solidFill>
              <a:srgbClr val="72A9F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1005840"/>
            <a:ext cx="2834640" cy="45720"/>
          </a:xfrm>
          <a:prstGeom prst="rect">
            <a:avLst/>
          </a:prstGeom>
          <a:solidFill>
            <a:srgbClr val="72A9F4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🏪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281928" y="17190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EMPRESAS DE CONSUMO MASIVO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81928" y="212140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Fabricantes o distribuidores de bienes de consumo que necesitan visibilidad del punto de venta, ejecución comercial y medición de share of shelf.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81928" y="312724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2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EMPRESA NECESITA ESTO SI: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81928" y="33649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Encuesta de Trade Marketing en campo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81928" y="37307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Detección de huecos + sugerido IA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81928" y="40965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Prospección inteligente de nuevos clientes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A5C2E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0"/>
            <a:ext cx="54864" cy="5143500"/>
          </a:xfrm>
          <a:prstGeom prst="rect">
            <a:avLst/>
          </a:prstGeom>
          <a:solidFill>
            <a:srgbClr val="3FCA88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0"/>
            <a:ext cx="54864" cy="5143500"/>
          </a:xfrm>
          <a:prstGeom prst="rect">
            <a:avLst/>
          </a:prstGeom>
          <a:solidFill>
            <a:srgbClr val="0D7A40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172200" y="0"/>
            <a:ext cx="54864" cy="5143500"/>
          </a:xfrm>
          <a:prstGeom prst="rect">
            <a:avLst/>
          </a:prstGeom>
          <a:solidFill>
            <a:srgbClr val="0D7A40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75120" y="0"/>
            <a:ext cx="54864" cy="5143500"/>
          </a:xfrm>
          <a:prstGeom prst="rect">
            <a:avLst/>
          </a:prstGeom>
          <a:solidFill>
            <a:srgbClr val="0D7A40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78040" y="0"/>
            <a:ext cx="54864" cy="5143500"/>
          </a:xfrm>
          <a:prstGeom prst="rect">
            <a:avLst/>
          </a:prstGeom>
          <a:solidFill>
            <a:srgbClr val="0D7A40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0"/>
            <a:ext cx="54864" cy="5143500"/>
          </a:xfrm>
          <a:prstGeom prst="rect">
            <a:avLst/>
          </a:prstGeom>
          <a:solidFill>
            <a:srgbClr val="0D7A40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83880" y="0"/>
            <a:ext cx="54864" cy="5143500"/>
          </a:xfrm>
          <a:prstGeom prst="rect">
            <a:avLst/>
          </a:prstGeom>
          <a:solidFill>
            <a:srgbClr val="0D7A40">
              <a:alpha val="3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5486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¿Estás listo para dejar de gastar y empezar a ganar?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1920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FCA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Mr. Ruta toma el control.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2578608"/>
            <a:ext cx="384048" cy="384048"/>
          </a:xfrm>
          <a:prstGeom prst="rect">
            <a:avLst/>
          </a:prstGeom>
          <a:solidFill>
            <a:srgbClr val="0D7A4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61518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 — sin instalar nada, en tu navegador ahora mismo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200400"/>
            <a:ext cx="384048" cy="384048"/>
          </a:xfrm>
          <a:prstGeom prst="rect">
            <a:avLst/>
          </a:prstGeom>
          <a:solidFill>
            <a:srgbClr val="0D7A4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23697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de 30 días con tu flota real — medimos el ROI juntos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822192"/>
            <a:ext cx="384048" cy="384048"/>
          </a:xfrm>
          <a:prstGeom prst="rect">
            <a:avLst/>
          </a:prstGeom>
          <a:solidFill>
            <a:srgbClr val="0D7A40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85876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full con capacitación de tu equipo incluida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457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EJECUTIVO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504688" y="1444752"/>
            <a:ext cx="1664208" cy="1005840"/>
          </a:xfrm>
          <a:prstGeom prst="rect">
            <a:avLst/>
          </a:prstGeom>
          <a:solidFill>
            <a:srgbClr val="031A09"/>
          </a:solidFill>
          <a:ln w="12700">
            <a:solidFill>
              <a:srgbClr val="1290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153619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504688" y="188366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Sargento Timer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04688" y="211226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−50% tiempo/visita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87768" y="1444752"/>
            <a:ext cx="1664208" cy="1005840"/>
          </a:xfrm>
          <a:prstGeom prst="rect">
            <a:avLst/>
          </a:prstGeom>
          <a:solidFill>
            <a:srgbClr val="031A09"/>
          </a:solidFill>
          <a:ln w="12700">
            <a:solidFill>
              <a:srgbClr val="1290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87768" y="153619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📸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87768" y="188366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Protocol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87768" y="211226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evidencia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04688" y="2542032"/>
            <a:ext cx="1664208" cy="1005840"/>
          </a:xfrm>
          <a:prstGeom prst="rect">
            <a:avLst/>
          </a:prstGeom>
          <a:solidFill>
            <a:srgbClr val="031A09"/>
          </a:solidFill>
          <a:ln w="12700">
            <a:solidFill>
              <a:srgbClr val="1290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04688" y="26334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04688" y="298094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Auth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04688" y="320954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robo hormiga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87768" y="2542032"/>
            <a:ext cx="1664208" cy="1005840"/>
          </a:xfrm>
          <a:prstGeom prst="rect">
            <a:avLst/>
          </a:prstGeom>
          <a:solidFill>
            <a:srgbClr val="031A09"/>
          </a:solidFill>
          <a:ln w="12700">
            <a:solidFill>
              <a:srgbClr val="1290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87768" y="26334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287768" y="298094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87768" y="320954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meta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04688" y="3639312"/>
            <a:ext cx="1664208" cy="1005840"/>
          </a:xfrm>
          <a:prstGeom prst="rect">
            <a:avLst/>
          </a:prstGeom>
          <a:solidFill>
            <a:srgbClr val="031A09"/>
          </a:solidFill>
          <a:ln w="12700">
            <a:solidFill>
              <a:srgbClr val="1290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04688" y="373075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🏭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504688" y="407822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CEDIS WMS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04688" y="430682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módulos de control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87768" y="3639312"/>
            <a:ext cx="1664208" cy="1005840"/>
          </a:xfrm>
          <a:prstGeom prst="rect">
            <a:avLst/>
          </a:prstGeom>
          <a:solidFill>
            <a:srgbClr val="031A09"/>
          </a:solidFill>
          <a:ln w="12700">
            <a:solidFill>
              <a:srgbClr val="1290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87768" y="373075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287768" y="407822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FC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 + DSO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87768" y="430682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financiera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29057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Ruta — Logística DSD de Clase Mundial · Monterrey, México · 2026  |  mr-ruta.com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Mr. Ruta — Presentación Ejecutiva</dc:title>
  <dc:subject>PptxGenJS Presentation</dc:subject>
  <dc:creator>Mr. Ruta</dc:creator>
  <cp:lastModifiedBy>Mr. Ruta</cp:lastModifiedBy>
  <cp:revision>1</cp:revision>
  <dcterms:created xsi:type="dcterms:W3CDTF">2026-04-15T16:16:20Z</dcterms:created>
  <dcterms:modified xsi:type="dcterms:W3CDTF">2026-04-15T16:16:20Z</dcterms:modified>
</cp:coreProperties>
</file>